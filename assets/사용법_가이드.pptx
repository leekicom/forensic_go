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60520"/>
            <a:ext cx="12191695" cy="2743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822960" y="1783080"/>
            <a:ext cx="1051560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822960" y="4343400"/>
            <a:ext cx="105156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14B8A6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164592"/>
            <a:ext cx="96012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640080" y="1371600"/>
            <a:ext cx="10881360" cy="5120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rgbClr val="0F172A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5" name="Text 1"/>
          <p:cNvSpPr/>
          <p:nvPr/>
        </p:nvSpPr>
        <p:spPr>
          <a:xfrm>
            <a:off x="640080" y="653796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현장 압수 절차 프로그램 · 수사관용 사용 안내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33415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33415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822960" y="1783080"/>
            <a:ext cx="10515600" cy="18288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현장 압수 절차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프로그램 사용법</a:t>
            </a:r>
            <a:endParaRPr lang="en-US" sz="40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822960" y="43434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4B8A6"/>
                </a:solidFill>
              </a:rPr>
              <a:t>수사관용 교육자료  ·  Streamlit 기반 현장 보존 절차 안내 프로그램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800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PC · iPhone · Android 공통 대응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40080" y="164592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프로그램은 무엇을 도와주나요?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508760"/>
            <a:ext cx="5166360" cy="2240280"/>
          </a:xfrm>
          <a:prstGeom prst="roundRect">
            <a:avLst>
              <a:gd name="adj" fmla="val 4898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08760"/>
            <a:ext cx="73152" cy="22402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09928"/>
            <a:ext cx="4617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현장 보존 절차 안내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194560"/>
            <a:ext cx="4617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</a:rPr>
              <a:t>PC·iPhone·Android 등 기기 유형에 맞춰 전원 보존, 네트워크 차단 등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</a:rPr>
              <a:t>현장에서 지켜야 할 절차를 단계별로 안내합니다.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355080" y="1508760"/>
            <a:ext cx="5166360" cy="2240280"/>
          </a:xfrm>
          <a:prstGeom prst="roundRect">
            <a:avLst>
              <a:gd name="adj" fmla="val 4898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55080" y="1508760"/>
            <a:ext cx="73152" cy="22402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675120" y="1709928"/>
            <a:ext cx="4617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기록 및 체크리스트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675120" y="2194560"/>
            <a:ext cx="4617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</a:rPr>
              <a:t>각 단계마다 완료 체크, 현장 메모, 사진 첨부가 가능해 증거보관연계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</a:rPr>
              <a:t>(Chain of Custody)에 필요한 기록을 그 자리에서 남길 수 있습니다.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4069080"/>
            <a:ext cx="5166360" cy="2240280"/>
          </a:xfrm>
          <a:prstGeom prst="roundRect">
            <a:avLst>
              <a:gd name="adj" fmla="val 4898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4069080"/>
            <a:ext cx="73152" cy="22402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60120" y="4270248"/>
            <a:ext cx="4617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역할별 절차 분리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960120" y="4754880"/>
            <a:ext cx="4617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</a:rPr>
              <a:t>수사관과 포렌식분석관의 역할에 따라 절차와 안내 내용이 다르게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</a:rPr>
              <a:t>표시되어, 각자 해야 할 일만 명확하게 보여줍니다.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355080" y="4069080"/>
            <a:ext cx="5166360" cy="2240280"/>
          </a:xfrm>
          <a:prstGeom prst="roundRect">
            <a:avLst>
              <a:gd name="adj" fmla="val 4898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55080" y="4069080"/>
            <a:ext cx="73152" cy="22402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675120" y="4270248"/>
            <a:ext cx="4617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PDF 리포트 생성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675120" y="4754880"/>
            <a:ext cx="4617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</a:rPr>
              <a:t>진행한 모든 단계를 정리한 PDF 리포트를 즉시 다운로드하여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</a:rPr>
              <a:t>사건 기록에 첨부할 수 있습니다.</a:t>
            </a:r>
            <a:endParaRPr lang="en-US" sz="1250" dirty="0"/>
          </a:p>
        </p:txBody>
      </p:sp>
      <p:sp>
        <p:nvSpPr>
          <p:cNvPr id="19" name="Text 1"/>
          <p:cNvSpPr/>
          <p:nvPr>
            <p:ph idx="102" type="body" hasCustomPrompt="1"/>
          </p:nvPr>
        </p:nvSpPr>
        <p:spPr>
          <a:xfrm>
            <a:off x="640080" y="1371600"/>
            <a:ext cx="1088136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33415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40080" y="164592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시작하기 — 사건정보 입력 및 역할 선택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41732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</a:rPr>
              <a:t>① 사건정보 입력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828800"/>
            <a:ext cx="5669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사건번호, 담당 수사관(성명/소속), 피의자(소지자) 성명,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현장 위치, 압수 일시를 입력합니다.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01752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</a:rPr>
              <a:t>② 현장 수행 주체 선택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429000"/>
            <a:ext cx="5669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수사관 — 현장 보존·기록 중심 절차 (4단계에서 종료)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포렌식분석관 — 기술 판단·추출까지 전 과정 수행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61772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</a:rPr>
              <a:t>③ [절차 안내 시작] 버튼 클릭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502920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입력을 마치면 1단계부터 안내가 시작됩니다.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086600" y="1417320"/>
            <a:ext cx="4434840" cy="2011680"/>
          </a:xfrm>
          <a:prstGeom prst="roundRect">
            <a:avLst>
              <a:gd name="adj" fmla="val 4545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60920" y="1600200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수사관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7360920" y="2103120"/>
            <a:ext cx="3886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현장 보존·협의 중심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1~4단계 진행 후 종료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086600" y="3657600"/>
            <a:ext cx="4434840" cy="2011680"/>
          </a:xfrm>
          <a:prstGeom prst="roundRect">
            <a:avLst>
              <a:gd name="adj" fmla="val 4545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60920" y="3840480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포렌식분석관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7360920" y="4343400"/>
            <a:ext cx="3886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기기식별 · 추출여부 결정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인계 · 포장까지 전 과정 수행</a:t>
            </a:r>
            <a:endParaRPr lang="en-US" sz="1300" dirty="0"/>
          </a:p>
        </p:txBody>
      </p:sp>
      <p:sp>
        <p:nvSpPr>
          <p:cNvPr id="15" name="Text 1"/>
          <p:cNvSpPr/>
          <p:nvPr>
            <p:ph idx="102" type="body" hasCustomPrompt="1"/>
          </p:nvPr>
        </p:nvSpPr>
        <p:spPr>
          <a:xfrm>
            <a:off x="640080" y="1371600"/>
            <a:ext cx="1088136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33415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40080" y="164592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단계별 진행 방법 (1~4단계)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536192"/>
            <a:ext cx="548640" cy="5486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5361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1463040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현장 안전 및 권한 확인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847088"/>
            <a:ext cx="9692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법적 권한 범위 확인, 신분·목적 고지, 입회인 확보 여부 점검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914400" y="2103120"/>
            <a:ext cx="0" cy="1078992"/>
          </a:xfrm>
          <a:prstGeom prst="line">
            <a:avLst/>
          </a:prstGeom>
          <a:noFill/>
          <a:ln w="19050">
            <a:solidFill>
              <a:srgbClr val="F1F5F9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640080" y="2706624"/>
            <a:ext cx="548640" cy="5486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270662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417320" y="2633472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압수 대상 기기 유형 선택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3017520"/>
            <a:ext cx="9692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PC / iPhone / Android 중 선택 → 이후 단계가 유형에 맞게 자동 구성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914400" y="3273552"/>
            <a:ext cx="0" cy="1078992"/>
          </a:xfrm>
          <a:prstGeom prst="line">
            <a:avLst/>
          </a:prstGeom>
          <a:noFill/>
          <a:ln w="19050">
            <a:solidFill>
              <a:srgbClr val="F1F5F9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640080" y="3877056"/>
            <a:ext cx="548640" cy="5486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387705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3803904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현장 사진·영상 기록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417320" y="4187952"/>
            <a:ext cx="9692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기기 위치, 화면 상태, 주변 배선을 촬영하여 바로 첨부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914400" y="4443984"/>
            <a:ext cx="0" cy="1078992"/>
          </a:xfrm>
          <a:prstGeom prst="line">
            <a:avLst/>
          </a:prstGeom>
          <a:noFill/>
          <a:ln w="19050">
            <a:solidFill>
              <a:srgbClr val="F1F5F9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640080" y="5047488"/>
            <a:ext cx="548640" cy="5486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" y="504748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1417320" y="4974336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전원 상태 확인 및 네트워크·배터리 보존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417320" y="5358384"/>
            <a:ext cx="9692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전원 유지, 네트워크 격리, 배터리 방전 방지 조치 확인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6190488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F766E"/>
                </a:solidFill>
              </a:rPr>
              <a:t>각 단계 공통: 설명 확인 → ‘이 단계를 완료했습니다’ 체크 → 현장 메모 작성 → 사진 추가</a:t>
            </a:r>
            <a:endParaRPr lang="en-US" sz="1250" dirty="0"/>
          </a:p>
        </p:txBody>
      </p:sp>
      <p:sp>
        <p:nvSpPr>
          <p:cNvPr id="23" name="Text 1"/>
          <p:cNvSpPr/>
          <p:nvPr>
            <p:ph idx="102" type="body" hasCustomPrompt="1"/>
          </p:nvPr>
        </p:nvSpPr>
        <p:spPr>
          <a:xfrm>
            <a:off x="640080" y="1371600"/>
            <a:ext cx="1088136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33415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40080" y="164592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수사관의 역할 범위 &amp; 리포트 다운로드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10881360" cy="1234440"/>
          </a:xfrm>
          <a:prstGeom prst="roundRect">
            <a:avLst>
              <a:gd name="adj" fmla="val 7407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155448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2400E"/>
                </a:solidFill>
              </a:rPr>
              <a:t>중요 — 수사관은 4단계까지 진행 후 절차를 종료합니다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192024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78350F"/>
                </a:solidFill>
              </a:rPr>
              <a:t>기기 식별, 현장 이미지 추출 여부 결정, 잠금해제·인계, 증거물 포장 등 이후의 기술적 절차는 모두 포렌식분석관이 전담합니다. 수사관은 5단계 이후 화면에 접근할 필요가 없습니다.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9718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</a:rPr>
              <a:t>언제든 PDF 리포트를 다운로드할 수 있습니다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429000"/>
            <a:ext cx="10332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현재 진행 화면 하단의 [PDF 리포트 다운로드] 버튼을 누르면 지금까지의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0F172A"/>
                </a:solidFill>
              </a:rPr>
              <a:t>모든 기록(체크 상태·메모·사진)이 담긴 리포트가 즉시 생성됩니다.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리포트에는 담당 수사관 서명란이 포함되어 있어 바로 서명 후 사건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0F172A"/>
                </a:solidFill>
              </a:rPr>
              <a:t>기록에 첨부할 수 있습니다.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첨부한 사진 원본은 별도의 ZIP 파일로도 함께 받을 수 있습니다.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5486400"/>
            <a:ext cx="10881360" cy="822960"/>
          </a:xfrm>
          <a:prstGeom prst="roundRect">
            <a:avLst>
              <a:gd name="adj" fmla="val 11111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4400" y="548640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문의: 프로그램 사용 중 어려움이 있으면 포렌식 담당 부서로 연락해 주세요.</a:t>
            </a:r>
            <a:endParaRPr lang="en-US" sz="1300" dirty="0"/>
          </a:p>
        </p:txBody>
      </p:sp>
      <p:sp>
        <p:nvSpPr>
          <p:cNvPr id="10" name="Text 1"/>
          <p:cNvSpPr/>
          <p:nvPr>
            <p:ph idx="102" type="body" hasCustomPrompt="1"/>
          </p:nvPr>
        </p:nvSpPr>
        <p:spPr>
          <a:xfrm>
            <a:off x="640080" y="1371600"/>
            <a:ext cx="1088136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33415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orensicSeizureTheme">
  <a:themeElements>
    <a:clrScheme name="ForensicSeizureTheme">
      <a:dk1>
        <a:srgbClr val="0F172A"/>
      </a:dk1>
      <a:lt1>
        <a:srgbClr val="FFFFFF"/>
      </a:lt1>
      <a:dk2>
        <a:srgbClr val="334155"/>
      </a:dk2>
      <a:lt2>
        <a:srgbClr val="F1F5F9"/>
      </a:lt2>
      <a:accent1>
        <a:srgbClr val="14B8A6"/>
      </a:accent1>
      <a:accent2>
        <a:srgbClr val="6366F1"/>
      </a:accent2>
      <a:accent3>
        <a:srgbClr val="0F766E"/>
      </a:accent3>
      <a:accent4>
        <a:srgbClr val="4F46E5"/>
      </a:accent4>
      <a:accent5>
        <a:srgbClr val="F59E0B"/>
      </a:accent5>
      <a:accent6>
        <a:srgbClr val="EF4444"/>
      </a:accent6>
      <a:hlink>
        <a:srgbClr val="14B8A6"/>
      </a:hlink>
      <a:folHlink>
        <a:srgbClr val="6366F1"/>
      </a:folHlink>
    </a:clrScheme>
    <a:fontScheme name="ForensicSeizureThem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Field Seizure Guide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현장 압수 절차 프로그램 사용 안내</dc:title>
  <dc:subject>PptxGenJS Presentation</dc:subject>
  <dc:creator>Digital Forensics</dc:creator>
  <cp:lastModifiedBy>Digital Forensics</cp:lastModifiedBy>
  <cp:revision>1</cp:revision>
  <dcterms:created xsi:type="dcterms:W3CDTF">2026-10-17T21:22:35Z</dcterms:created>
  <dcterms:modified xsi:type="dcterms:W3CDTF">2026-10-17T21:22:35Z</dcterms:modified>
</cp:coreProperties>
</file>